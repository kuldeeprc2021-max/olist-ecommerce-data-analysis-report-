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7"/>
  </p:notesMasterIdLst>
  <p:sldIdLst>
    <p:sldId id="256" r:id="rId3"/>
    <p:sldId id="571" r:id="rId4"/>
    <p:sldId id="572" r:id="rId5"/>
    <p:sldId id="573" r:id="rId6"/>
    <p:sldId id="580" r:id="rId7"/>
    <p:sldId id="574" r:id="rId8"/>
    <p:sldId id="575" r:id="rId9"/>
    <p:sldId id="576" r:id="rId10"/>
    <p:sldId id="581" r:id="rId11"/>
    <p:sldId id="582" r:id="rId12"/>
    <p:sldId id="577" r:id="rId13"/>
    <p:sldId id="579" r:id="rId14"/>
    <p:sldId id="578" r:id="rId15"/>
    <p:sldId id="536" r:id="rId16"/>
  </p:sldIdLst>
  <p:sldSz cx="12192000" cy="6858000"/>
  <p:notesSz cx="6858000" cy="9144000"/>
  <p:custDataLst>
    <p:tags r:id="rId1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p:cViewPr varScale="1">
        <p:scale>
          <a:sx n="72" d="100"/>
          <a:sy n="72" d="100"/>
        </p:scale>
        <p:origin x="636" y="78"/>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gs" Target="tags/tag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8/10/relationships/authors" Target="authors.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22-03-2026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14</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22-03-2026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3/22/2026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22/03/2026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cstate="hqprint">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424543" y="1282833"/>
            <a:ext cx="4746772" cy="2506766"/>
          </a:xfrm>
          <a:prstGeom prst="rect">
            <a:avLst/>
          </a:prstGeom>
        </p:spPr>
        <p:txBody>
          <a:bodyPr vert="horz" lIns="91440" tIns="45720" rIns="91440" bIns="45720" rtlCol="0" anchor="b">
            <a:normAutofit fontScale="9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br>
              <a:rPr lang="en-US" sz="5100" b="1" dirty="0"/>
            </a:br>
            <a:r>
              <a:rPr lang="en-US" sz="3800" b="1" cap="all" dirty="0">
                <a:latin typeface="Aptos"/>
              </a:rPr>
              <a:t>OLIST e-COMMERCE SALES &amp; PERFORMANCE ANALYTICS</a:t>
            </a:r>
            <a:endParaRPr lang="en-US" sz="3800" dirty="0">
              <a:latin typeface="Aptos"/>
            </a:endParaRPr>
          </a:p>
          <a:p>
            <a:pPr algn="l"/>
            <a:endParaRPr lang="en-US" sz="5100" b="1" kern="1200" dirty="0"/>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434212" y="3428682"/>
            <a:ext cx="4288357" cy="2677689"/>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800" b="1" cap="all" dirty="0"/>
              <a:t>Presented By</a:t>
            </a:r>
            <a:endParaRPr lang="en-US" sz="1800" cap="all" dirty="0"/>
          </a:p>
          <a:p>
            <a:pPr algn="l">
              <a:spcAft>
                <a:spcPts val="600"/>
              </a:spcAft>
            </a:pPr>
            <a:r>
              <a:rPr lang="en-US" sz="1800" b="1" cap="all" dirty="0"/>
              <a:t>Student Name: Kuldeep R. CHOUDHARY</a:t>
            </a:r>
          </a:p>
          <a:p>
            <a:pPr algn="l">
              <a:spcAft>
                <a:spcPts val="600"/>
              </a:spcAft>
            </a:pPr>
            <a:r>
              <a:rPr lang="en-US" sz="1800" b="1" cap="all" dirty="0"/>
              <a:t>College Name: Department of Technology , SPPU</a:t>
            </a:r>
          </a:p>
          <a:p>
            <a:pPr algn="l">
              <a:spcAft>
                <a:spcPts val="600"/>
              </a:spcAft>
            </a:pPr>
            <a:r>
              <a:rPr lang="en-US" sz="1800" b="1" cap="all" dirty="0"/>
              <a:t>Department: B.Tech Data Science</a:t>
            </a:r>
          </a:p>
          <a:p>
            <a:pPr algn="l">
              <a:spcAft>
                <a:spcPts val="600"/>
              </a:spcAft>
            </a:pPr>
            <a:r>
              <a:rPr lang="en-US" sz="1800" b="1" cap="all" dirty="0"/>
              <a:t>Email ID: </a:t>
            </a:r>
            <a:r>
              <a:rPr lang="en-US" sz="1800" b="1" dirty="0"/>
              <a:t>kuldeeprc2021@gmail.com</a:t>
            </a:r>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Picture 3"/>
          <p:cNvPicPr>
            <a:picLocks noChangeAspect="1"/>
          </p:cNvPicPr>
          <p:nvPr/>
        </p:nvPicPr>
        <p:blipFill rotWithShape="1">
          <a:blip r:embed="rId5" cstate="print">
            <a:extLst>
              <a:ext uri="{28A0092B-C50C-407E-A947-70E740481C1C}">
                <a14:useLocalDpi xmlns:a14="http://schemas.microsoft.com/office/drawing/2010/main" val="0"/>
              </a:ext>
            </a:extLst>
          </a:blip>
          <a:srcRect l="34422" t="6092" r="25240" b="64416"/>
          <a:stretch/>
        </p:blipFill>
        <p:spPr>
          <a:xfrm>
            <a:off x="6338448" y="1074524"/>
            <a:ext cx="4213077" cy="4598376"/>
          </a:xfrm>
          <a:prstGeom prst="rect">
            <a:avLst/>
          </a:prstGeom>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a:cs typeface="Arial"/>
              </a:rPr>
              <a:t>Problem </a:t>
            </a:r>
          </a:p>
          <a:p>
            <a:pPr marL="305435" indent="-305435">
              <a:spcBef>
                <a:spcPct val="20000"/>
              </a:spcBef>
              <a:spcAft>
                <a:spcPts val="600"/>
              </a:spcAft>
            </a:pPr>
            <a:r>
              <a:rPr lang="en-US" sz="2200" b="1" dirty="0">
                <a:latin typeface="Arial"/>
                <a:cs typeface="Arial"/>
              </a:rPr>
              <a:t>Proposed System/Solution</a:t>
            </a:r>
            <a:endParaRPr lang="en-US" sz="2200" dirty="0">
              <a:latin typeface="Arial"/>
              <a:cs typeface="Arial"/>
            </a:endParaRPr>
          </a:p>
          <a:p>
            <a:pPr marL="305435" indent="-305435">
              <a:spcBef>
                <a:spcPct val="20000"/>
              </a:spcBef>
              <a:spcAft>
                <a:spcPts val="600"/>
              </a:spcAft>
            </a:pPr>
            <a:r>
              <a:rPr lang="en-US" sz="2200" b="1" dirty="0">
                <a:latin typeface="Arial"/>
                <a:cs typeface="Arial"/>
              </a:rPr>
              <a:t>System Development Approach </a:t>
            </a:r>
          </a:p>
          <a:p>
            <a:pPr marL="305435" indent="-305435">
              <a:spcBef>
                <a:spcPct val="20000"/>
              </a:spcBef>
              <a:spcAft>
                <a:spcPts val="600"/>
              </a:spcAft>
            </a:pPr>
            <a:r>
              <a:rPr lang="en-US" sz="2200" b="1" dirty="0">
                <a:latin typeface="Arial"/>
                <a:cs typeface="Arial"/>
              </a:rPr>
              <a:t>Data modelling &amp; Dashboard Development  </a:t>
            </a:r>
            <a:endParaRPr lang="en-US" sz="2200" dirty="0">
              <a:latin typeface="Arial"/>
              <a:cs typeface="Arial"/>
            </a:endParaRPr>
          </a:p>
          <a:p>
            <a:pPr marL="305435" indent="-305435">
              <a:spcBef>
                <a:spcPct val="20000"/>
              </a:spcBef>
              <a:spcAft>
                <a:spcPts val="600"/>
              </a:spcAft>
            </a:pPr>
            <a:r>
              <a:rPr lang="en-US" sz="2200" b="1" dirty="0">
                <a:latin typeface="Arial"/>
                <a:cs typeface="Arial"/>
              </a:rPr>
              <a:t>Result (Output Image)</a:t>
            </a:r>
            <a:endParaRPr lang="en-US" sz="2200" dirty="0">
              <a:latin typeface="Arial"/>
              <a:cs typeface="Arial"/>
            </a:endParaRPr>
          </a:p>
          <a:p>
            <a:pPr marL="305435" indent="-305435">
              <a:spcBef>
                <a:spcPct val="20000"/>
              </a:spcBef>
              <a:spcAft>
                <a:spcPts val="600"/>
              </a:spcAft>
            </a:pPr>
            <a:r>
              <a:rPr lang="en-US" sz="2200" b="1" dirty="0">
                <a:latin typeface="Arial"/>
                <a:cs typeface="Arial"/>
              </a:rPr>
              <a:t>Conclusion</a:t>
            </a:r>
            <a:endParaRPr lang="en-US" sz="2200" dirty="0">
              <a:latin typeface="Arial"/>
              <a:cs typeface="Arial"/>
            </a:endParaRPr>
          </a:p>
          <a:p>
            <a:pPr marL="305435" indent="-305435">
              <a:spcBef>
                <a:spcPct val="20000"/>
              </a:spcBef>
              <a:spcAft>
                <a:spcPts val="600"/>
              </a:spcAft>
            </a:pPr>
            <a:r>
              <a:rPr lang="en-US" sz="2200" b="1" dirty="0">
                <a:latin typeface="Arial"/>
                <a:cs typeface="Arial"/>
              </a:rPr>
              <a:t>Future Scope</a:t>
            </a:r>
            <a:endParaRPr lang="en-US" sz="2200" dirty="0">
              <a:latin typeface="Arial"/>
              <a:cs typeface="Arial"/>
            </a:endParaRPr>
          </a:p>
          <a:p>
            <a:pPr marL="305435" indent="-305435">
              <a:spcBef>
                <a:spcPct val="20000"/>
              </a:spcBef>
              <a:spcAft>
                <a:spcPts val="600"/>
              </a:spcAft>
            </a:pPr>
            <a:r>
              <a:rPr lang="en-US" sz="2200" b="1" dirty="0">
                <a:latin typeface="Arial"/>
                <a:cs typeface="Arial"/>
              </a:rPr>
              <a:t>References</a:t>
            </a:r>
            <a:endParaRPr lang="en-US" sz="2200" dirty="0">
              <a:latin typeface="Arial"/>
              <a:cs typeface="Arial"/>
            </a:endParaRPr>
          </a:p>
          <a:p>
            <a:endParaRPr lang="en-GB" sz="2200" dirty="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dirty="0">
                <a:latin typeface="Arial"/>
                <a:cs typeface="Arial"/>
              </a:rPr>
              <a:t>Problem Statement:</a:t>
            </a:r>
            <a:endParaRPr lang="en-US" sz="4000" dirty="0"/>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290512" y="1715071"/>
            <a:ext cx="10515600" cy="4251960"/>
          </a:xfrm>
        </p:spPr>
        <p:txBody>
          <a:bodyPr vert="horz" lIns="91440" tIns="45720" rIns="91440" bIns="45720" rtlCol="0">
            <a:normAutofit/>
          </a:bodyPr>
          <a:lstStyle/>
          <a:p>
            <a:pPr marL="0" indent="0">
              <a:buNone/>
            </a:pPr>
            <a:r>
              <a:rPr lang="en-US" sz="2200" dirty="0">
                <a:latin typeface="Franklin Gothic Book"/>
              </a:rPr>
              <a:t>As a major e-commerce platform, Olist generates massive volumes of raw, decentralized daily data across millions of orders, diverse product categories, and widespread customer locations. However, this raw data in its tabular form offers no immediate strategic value, leaving business leaders and inventory managers unable to quickly identify revenue-driving products, pinpoint underperforming inventory, or understand the geographic distribution of their most valuable customers. This critical lack of clear, centralized data visibility creates significant strategic blind spots, ultimately leading to inefficient inventory management, misallocated marketing budgets, and suboptimal logistical planning across different regions.</a:t>
            </a:r>
            <a:endParaRPr lang="en-US" sz="2200" dirty="0"/>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Content Placeholder 4"/>
          <p:cNvSpPr txBox="1">
            <a:spLocks/>
          </p:cNvSpPr>
          <p:nvPr/>
        </p:nvSpPr>
        <p:spPr>
          <a:xfrm>
            <a:off x="939113" y="1371600"/>
            <a:ext cx="0" cy="0"/>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IN" dirty="0"/>
          </a:p>
        </p:txBody>
      </p:sp>
      <p:sp>
        <p:nvSpPr>
          <p:cNvPr id="9" name="TextBox 8"/>
          <p:cNvSpPr txBox="1"/>
          <p:nvPr/>
        </p:nvSpPr>
        <p:spPr>
          <a:xfrm>
            <a:off x="0" y="539220"/>
            <a:ext cx="5301049" cy="646331"/>
          </a:xfrm>
          <a:prstGeom prst="rect">
            <a:avLst/>
          </a:prstGeom>
          <a:noFill/>
        </p:spPr>
        <p:txBody>
          <a:bodyPr wrap="square" rtlCol="0">
            <a:spAutoFit/>
          </a:bodyPr>
          <a:lstStyle/>
          <a:p>
            <a:r>
              <a:rPr lang="en-US" sz="3600" b="1" dirty="0">
                <a:latin typeface="Arial" panose="020B0604020202020204" pitchFamily="34" charset="0"/>
                <a:cs typeface="Arial" panose="020B0604020202020204" pitchFamily="34" charset="0"/>
              </a:rPr>
              <a:t>PROPOSED SOLUTION</a:t>
            </a:r>
            <a:endParaRPr lang="en-IN" sz="3600" b="1" dirty="0">
              <a:latin typeface="Arial" panose="020B0604020202020204" pitchFamily="34" charset="0"/>
              <a:cs typeface="Arial" panose="020B0604020202020204" pitchFamily="34" charset="0"/>
            </a:endParaRPr>
          </a:p>
        </p:txBody>
      </p:sp>
      <p:sp>
        <p:nvSpPr>
          <p:cNvPr id="10" name="TextBox 9"/>
          <p:cNvSpPr txBox="1"/>
          <p:nvPr/>
        </p:nvSpPr>
        <p:spPr>
          <a:xfrm>
            <a:off x="159026" y="1185551"/>
            <a:ext cx="11145795" cy="5407634"/>
          </a:xfrm>
          <a:prstGeom prst="rect">
            <a:avLst/>
          </a:prstGeom>
          <a:noFill/>
        </p:spPr>
        <p:txBody>
          <a:bodyPr wrap="square" rtlCol="0">
            <a:spAutoFit/>
          </a:bodyPr>
          <a:lstStyle/>
          <a:p>
            <a:r>
              <a:rPr lang="en-US" sz="2000" dirty="0">
                <a:latin typeface="Calisto MT" panose="02040603050505030304" pitchFamily="18" charset="0"/>
                <a:ea typeface="Cambria" panose="02040503050406030204" pitchFamily="18" charset="0"/>
              </a:rPr>
              <a:t>The proposed system aims to address the critical lack of data visibility by engineering a comprehensive, interactive Business Intelligence (BI) dashboard utilizing Microsoft Power BI. This involves leveraging advanced data analytics, ETL (Extract, Transform, Load processes, and relational data modeling to translate millions of rows of raw transactional data into actionable business insights.</a:t>
            </a:r>
          </a:p>
          <a:p>
            <a:r>
              <a:rPr lang="en-US" sz="2000" dirty="0">
                <a:latin typeface="Calisto MT" panose="02040603050505030304" pitchFamily="18" charset="0"/>
                <a:ea typeface="Cambria" panose="02040503050406030204" pitchFamily="18" charset="0"/>
              </a:rPr>
              <a:t>The solution consists of the following components:</a:t>
            </a:r>
          </a:p>
          <a:p>
            <a:pPr marL="342900" indent="-342900">
              <a:buFont typeface="+mj-lt"/>
              <a:buAutoNum type="arabicPeriod"/>
            </a:pPr>
            <a:r>
              <a:rPr lang="en-US" b="1" dirty="0">
                <a:latin typeface="Cambria" panose="02040503050406030204" pitchFamily="18" charset="0"/>
                <a:ea typeface="Cambria" panose="02040503050406030204" pitchFamily="18" charset="0"/>
              </a:rPr>
              <a:t>Data Collection &amp; Integration:</a:t>
            </a:r>
          </a:p>
          <a:p>
            <a:pPr marL="629920" lvl="1" indent="-305435">
              <a:spcBef>
                <a:spcPct val="20000"/>
              </a:spcBef>
              <a:spcAft>
                <a:spcPts val="600"/>
              </a:spcAft>
              <a:buFont typeface="Arial"/>
              <a:buChar char="•"/>
            </a:pPr>
            <a:r>
              <a:rPr lang="en-IN" dirty="0">
                <a:latin typeface="Cambria" panose="02040503050406030204" pitchFamily="18" charset="0"/>
                <a:ea typeface="Cambria" panose="02040503050406030204" pitchFamily="18" charset="0"/>
                <a:cs typeface="Calibri" panose="020F0502020204030204" pitchFamily="34" charset="0"/>
              </a:rPr>
              <a:t> Gather extensive historical e-commerce data across multiple operational domains, specifically focusing on customer demographics, product catalog details, order fulfillment timestamps, and granular transaction values.</a:t>
            </a:r>
            <a:endParaRPr lang="en-IN" sz="2000" dirty="0">
              <a:latin typeface="Cambria" panose="02040503050406030204" pitchFamily="18" charset="0"/>
              <a:ea typeface="Cambria" panose="02040503050406030204" pitchFamily="18" charset="0"/>
            </a:endParaRPr>
          </a:p>
          <a:p>
            <a:pPr marL="629920" lvl="1" indent="-305435">
              <a:spcBef>
                <a:spcPct val="20000"/>
              </a:spcBef>
              <a:spcAft>
                <a:spcPts val="600"/>
              </a:spcAft>
              <a:buFont typeface="Arial"/>
              <a:buChar char="•"/>
            </a:pPr>
            <a:r>
              <a:rPr lang="en-US" dirty="0">
                <a:latin typeface="Cambria" panose="02040503050406030204" pitchFamily="18" charset="0"/>
                <a:ea typeface="Cambria" panose="02040503050406030204" pitchFamily="18" charset="0"/>
                <a:cs typeface="Calibri" panose="020F0502020204030204" pitchFamily="34" charset="0"/>
              </a:rPr>
              <a:t> Integrate these disparate CSV datasets (Orders, Items, Customers, Products) into a centralized, interconnected repository to establish a single source of truth for organizational metrics.</a:t>
            </a:r>
            <a:endParaRPr lang="en-US" sz="2000" dirty="0">
              <a:latin typeface="Cambria" panose="02040503050406030204" pitchFamily="18" charset="0"/>
              <a:ea typeface="Cambria" panose="02040503050406030204" pitchFamily="18" charset="0"/>
            </a:endParaRPr>
          </a:p>
          <a:p>
            <a:pPr marL="342900" indent="-342900">
              <a:buFont typeface="+mj-lt"/>
              <a:buAutoNum type="arabicPeriod"/>
            </a:pPr>
            <a:r>
              <a:rPr lang="en-US" b="1" dirty="0">
                <a:latin typeface="Cambria" panose="02040503050406030204" pitchFamily="18" charset="0"/>
                <a:ea typeface="Cambria" panose="02040503050406030204" pitchFamily="18" charset="0"/>
              </a:rPr>
              <a:t>Data Preprocessing &amp; Feature Engineering </a:t>
            </a:r>
          </a:p>
          <a:p>
            <a:pPr marL="629920" lvl="1" indent="-305435">
              <a:spcBef>
                <a:spcPct val="20000"/>
              </a:spcBef>
              <a:spcAft>
                <a:spcPts val="600"/>
              </a:spcAft>
              <a:buFont typeface="Arial"/>
              <a:buChar char="•"/>
            </a:pPr>
            <a:r>
              <a:rPr lang="en-US" dirty="0">
                <a:latin typeface="Cambria" panose="02040503050406030204" pitchFamily="18" charset="0"/>
                <a:ea typeface="Cambria" panose="02040503050406030204" pitchFamily="18" charset="0"/>
                <a:cs typeface="Calibri" panose="020F0502020204030204" pitchFamily="34" charset="0"/>
              </a:rPr>
              <a:t>Clean and preprocess the collected data using Power Query to handle missing values, resolve data inconsistencies, and standardize formats.</a:t>
            </a:r>
          </a:p>
          <a:p>
            <a:pPr marL="629920" lvl="1" indent="-305435">
              <a:spcBef>
                <a:spcPct val="20000"/>
              </a:spcBef>
              <a:spcAft>
                <a:spcPts val="600"/>
              </a:spcAft>
              <a:buFont typeface="Arial"/>
              <a:buChar char="•"/>
            </a:pPr>
            <a:r>
              <a:rPr lang="en-US" dirty="0">
                <a:latin typeface="Cambria" panose="02040503050406030204" pitchFamily="18" charset="0"/>
                <a:ea typeface="Cambria" panose="02040503050406030204" pitchFamily="18" charset="0"/>
                <a:cs typeface="Calibri" panose="020F0502020204030204" pitchFamily="34" charset="0"/>
              </a:rPr>
              <a:t> Perform feature engineering to extract relevant data points, such as isolating 'Year' and 'Month' from complex timestamps to enable accurate time-series revenue forecasting, and formatting location data for spatial mapping</a:t>
            </a:r>
            <a:r>
              <a:rPr lang="en-US" dirty="0">
                <a:latin typeface="Calibri" panose="020F0502020204030204" pitchFamily="34" charset="0"/>
                <a:ea typeface="Calibri" panose="020F0502020204030204" pitchFamily="34" charset="0"/>
                <a:cs typeface="Calibri" panose="020F0502020204030204" pitchFamily="34" charset="0"/>
              </a:rPr>
              <a:t>.</a:t>
            </a:r>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63611" y="831188"/>
            <a:ext cx="11664778" cy="5364545"/>
          </a:xfrm>
          <a:prstGeom prst="rect">
            <a:avLst/>
          </a:prstGeom>
          <a:noFill/>
        </p:spPr>
        <p:txBody>
          <a:bodyPr wrap="square" rtlCol="0">
            <a:spAutoFit/>
          </a:bodyPr>
          <a:lstStyle/>
          <a:p>
            <a:pPr marL="342900" indent="-342900">
              <a:buFont typeface="+mj-lt"/>
              <a:buAutoNum type="arabicPeriod" startAt="3"/>
            </a:pPr>
            <a:r>
              <a:rPr lang="en-US" sz="2000" b="1" dirty="0">
                <a:latin typeface="Cambria" panose="02040503050406030204" pitchFamily="18" charset="0"/>
                <a:ea typeface="Cambria" panose="02040503050406030204" pitchFamily="18" charset="0"/>
              </a:rPr>
              <a:t>Data Modeling &amp; DAX Implementation:</a:t>
            </a:r>
          </a:p>
          <a:p>
            <a:pPr marL="629920" lvl="1" indent="-305435">
              <a:spcBef>
                <a:spcPct val="20000"/>
              </a:spcBef>
              <a:spcAft>
                <a:spcPts val="600"/>
              </a:spcAft>
              <a:buFont typeface="Arial"/>
              <a:buChar char="•"/>
            </a:pPr>
            <a:r>
              <a:rPr lang="en-US" dirty="0">
                <a:latin typeface="Calibri" panose="020F0502020204030204" pitchFamily="34" charset="0"/>
                <a:ea typeface="Calibri" panose="020F0502020204030204" pitchFamily="34" charset="0"/>
                <a:cs typeface="Calibri" panose="020F0502020204030204" pitchFamily="34" charset="0"/>
              </a:rPr>
              <a:t> Architect a robust Star Schema relational data model, actively linking dimension tables (Customers, Products) to the central fact tables to enable seamless cross-filtering.</a:t>
            </a:r>
          </a:p>
          <a:p>
            <a:pPr marL="629920" lvl="1" indent="-305435">
              <a:spcBef>
                <a:spcPct val="20000"/>
              </a:spcBef>
              <a:spcAft>
                <a:spcPts val="600"/>
              </a:spcAft>
              <a:buFont typeface="Arial"/>
              <a:buChar char="•"/>
            </a:pPr>
            <a:r>
              <a:rPr lang="en-US" dirty="0">
                <a:latin typeface="Calibri" panose="020F0502020204030204" pitchFamily="34" charset="0"/>
                <a:ea typeface="Calibri" panose="020F0502020204030204" pitchFamily="34" charset="0"/>
                <a:cs typeface="Calibri" panose="020F0502020204030204" pitchFamily="34" charset="0"/>
              </a:rPr>
              <a:t>Implement advanced Data Analysis Expressions (DAX) to engineer dynamic Key Performance Indicators (KPIs)—such as Total Revenue, Distinct Customer Count, and Average Freight Value—that recalculate instantly based on user context.</a:t>
            </a:r>
            <a:endParaRPr lang="en-US" sz="2000" dirty="0">
              <a:latin typeface="Cambria" panose="02040503050406030204" pitchFamily="18" charset="0"/>
              <a:ea typeface="Cambria" panose="02040503050406030204" pitchFamily="18" charset="0"/>
            </a:endParaRPr>
          </a:p>
          <a:p>
            <a:pPr marL="342900" indent="-342900">
              <a:buFont typeface="+mj-lt"/>
              <a:buAutoNum type="arabicPeriod" startAt="3"/>
            </a:pPr>
            <a:r>
              <a:rPr lang="en-US" sz="2000" b="1" dirty="0">
                <a:latin typeface="Cambria" panose="02040503050406030204" pitchFamily="18" charset="0"/>
                <a:ea typeface="Cambria" panose="02040503050406030204" pitchFamily="18" charset="0"/>
              </a:rPr>
              <a:t>Interactive Deployment:</a:t>
            </a:r>
          </a:p>
          <a:p>
            <a:pPr marL="629920" lvl="1" indent="-305435">
              <a:spcBef>
                <a:spcPct val="20000"/>
              </a:spcBef>
              <a:spcAft>
                <a:spcPts val="600"/>
              </a:spcAft>
              <a:buFont typeface="Arial"/>
              <a:buChar char="•"/>
            </a:pPr>
            <a:r>
              <a:rPr lang="en-US" dirty="0">
                <a:latin typeface="Calibri" panose="020F0502020204030204" pitchFamily="34" charset="0"/>
                <a:ea typeface="Calibri" panose="020F0502020204030204" pitchFamily="34" charset="0"/>
                <a:cs typeface="Calibri" panose="020F0502020204030204" pitchFamily="34" charset="0"/>
              </a:rPr>
              <a:t> Develop a user-friendly, multi-page interface divided into logical business segments: Executive Overview, Product Performance Deep-Dive, and Customer Geographic Insights</a:t>
            </a:r>
          </a:p>
          <a:p>
            <a:pPr marL="629920" lvl="1" indent="-305435">
              <a:spcBef>
                <a:spcPct val="20000"/>
              </a:spcBef>
              <a:spcAft>
                <a:spcPts val="600"/>
              </a:spcAft>
              <a:buFont typeface="Arial"/>
              <a:buChar char="•"/>
            </a:pPr>
            <a:r>
              <a:rPr lang="en-US" dirty="0">
                <a:latin typeface="Calibri" panose="020F0502020204030204" pitchFamily="34" charset="0"/>
                <a:ea typeface="Calibri" panose="020F0502020204030204" pitchFamily="34" charset="0"/>
                <a:cs typeface="Calibri" panose="020F0502020204030204" pitchFamily="34" charset="0"/>
              </a:rPr>
              <a:t> Deploy advanced visual analytics, including interactive geographical maps, target-tracking Gauge charts, conditional Matrix formatting, and Top-N/Bottom-N filtering to highlight the most and least profitable inventory.</a:t>
            </a:r>
            <a:endParaRPr lang="en-US" sz="2000" dirty="0">
              <a:latin typeface="Cambria" panose="02040503050406030204" pitchFamily="18" charset="0"/>
              <a:ea typeface="Cambria" panose="02040503050406030204" pitchFamily="18" charset="0"/>
            </a:endParaRPr>
          </a:p>
          <a:p>
            <a:pPr marL="342900" indent="-342900">
              <a:buFont typeface="+mj-lt"/>
              <a:buAutoNum type="arabicPeriod" startAt="3"/>
            </a:pPr>
            <a:r>
              <a:rPr lang="en-US" sz="2000" b="1" dirty="0">
                <a:latin typeface="Cambria" panose="02040503050406030204" pitchFamily="18" charset="0"/>
                <a:ea typeface="Cambria" panose="02040503050406030204" pitchFamily="18" charset="0"/>
              </a:rPr>
              <a:t>Evaluation &amp; Refinement:</a:t>
            </a:r>
          </a:p>
          <a:p>
            <a:pPr marL="629920" lvl="1" indent="-305435">
              <a:spcBef>
                <a:spcPct val="20000"/>
              </a:spcBef>
              <a:spcAft>
                <a:spcPts val="600"/>
              </a:spcAft>
              <a:buFont typeface="Arial"/>
              <a:buChar char="•"/>
            </a:pPr>
            <a:r>
              <a:rPr lang="en-US" sz="1600" dirty="0">
                <a:latin typeface="Calibri" panose="020F0502020204030204" pitchFamily="34" charset="0"/>
                <a:ea typeface="Calibri" panose="020F0502020204030204" pitchFamily="34" charset="0"/>
                <a:cs typeface="Calibri" panose="020F0502020204030204" pitchFamily="34" charset="0"/>
              </a:rPr>
              <a:t> </a:t>
            </a:r>
            <a:r>
              <a:rPr lang="en-US" dirty="0">
                <a:latin typeface="Calibri" panose="020F0502020204030204" pitchFamily="34" charset="0"/>
                <a:ea typeface="Calibri" panose="020F0502020204030204" pitchFamily="34" charset="0"/>
                <a:cs typeface="Calibri" panose="020F0502020204030204" pitchFamily="34" charset="0"/>
              </a:rPr>
              <a:t>Assess the system's performance by validating DAX calculations against raw data totals to ensure absolute metric accuracy.</a:t>
            </a:r>
          </a:p>
          <a:p>
            <a:pPr marL="629920" lvl="1" indent="-305435">
              <a:spcBef>
                <a:spcPct val="20000"/>
              </a:spcBef>
              <a:spcAft>
                <a:spcPts val="600"/>
              </a:spcAft>
              <a:buFont typeface="Arial"/>
              <a:buChar char="•"/>
            </a:pPr>
            <a:r>
              <a:rPr lang="en-US" dirty="0">
                <a:latin typeface="Calibri" panose="020F0502020204030204" pitchFamily="34" charset="0"/>
                <a:ea typeface="Calibri" panose="020F0502020204030204" pitchFamily="34" charset="0"/>
                <a:cs typeface="Calibri" panose="020F0502020204030204" pitchFamily="34" charset="0"/>
              </a:rPr>
              <a:t> Fine-tune the user experience based on analytical best practices, incorporating seamless page navigation buttons and synced timeline slicers to ensure business stakeholders can effortlessly extract insights.</a:t>
            </a:r>
            <a:r>
              <a:rPr lang="en-US" sz="2000" dirty="0">
                <a:latin typeface="Cambria" panose="02040503050406030204" pitchFamily="18" charset="0"/>
                <a:ea typeface="Cambria" panose="02040503050406030204" pitchFamily="18" charset="0"/>
              </a:rPr>
              <a:t>   </a:t>
            </a:r>
          </a:p>
        </p:txBody>
      </p:sp>
    </p:spTree>
    <p:extLst>
      <p:ext uri="{BB962C8B-B14F-4D97-AF65-F5344CB8AC3E}">
        <p14:creationId xmlns:p14="http://schemas.microsoft.com/office/powerpoint/2010/main" val="693314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7" y="699528"/>
            <a:ext cx="5237566" cy="533527"/>
          </a:xfrm>
        </p:spPr>
        <p:txBody>
          <a:bodyPr lIns="91440" tIns="45720" rIns="91440" bIns="45720" anchor="t">
            <a:normAutofit fontScale="90000"/>
          </a:bodyPr>
          <a:lstStyle/>
          <a:p>
            <a:r>
              <a:rPr lang="en-US" sz="4000" b="1" cap="all" dirty="0">
                <a:latin typeface="Arial"/>
                <a:cs typeface="Arial"/>
              </a:rPr>
              <a:t>System  Approach:</a:t>
            </a:r>
            <a:endParaRPr lang="en-US" sz="4000" dirty="0"/>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158384" y="1334599"/>
            <a:ext cx="10515600" cy="5246309"/>
          </a:xfrm>
        </p:spPr>
        <p:txBody>
          <a:bodyPr vert="horz" lIns="91440" tIns="45720" rIns="91440" bIns="45720" rtlCol="0">
            <a:normAutofit fontScale="25000" lnSpcReduction="20000"/>
          </a:bodyPr>
          <a:lstStyle/>
          <a:p>
            <a:pPr marL="0" indent="0">
              <a:spcBef>
                <a:spcPct val="20000"/>
              </a:spcBef>
              <a:spcAft>
                <a:spcPts val="600"/>
              </a:spcAft>
              <a:buNone/>
            </a:pPr>
            <a:r>
              <a:rPr lang="en-GB" sz="9600" dirty="0">
                <a:latin typeface="Calisto MT" panose="02040603050505030304" pitchFamily="18" charset="0"/>
                <a:ea typeface="Cambria" panose="02040503050406030204" pitchFamily="18" charset="0"/>
              </a:rPr>
              <a:t>The development of this Business Intelligence system followed a structured, phased methodology to transform raw e-commerce data into an interactive analytical tool: </a:t>
            </a:r>
          </a:p>
          <a:p>
            <a:pPr marL="457200" indent="-457200">
              <a:spcBef>
                <a:spcPct val="20000"/>
              </a:spcBef>
              <a:spcAft>
                <a:spcPts val="600"/>
              </a:spcAft>
              <a:buAutoNum type="arabicPeriod"/>
            </a:pPr>
            <a:r>
              <a:rPr lang="en-GB" sz="8000" b="1" dirty="0">
                <a:latin typeface="Cambria" panose="02040503050406030204" pitchFamily="18" charset="0"/>
                <a:ea typeface="Cambria" panose="02040503050406030204" pitchFamily="18" charset="0"/>
              </a:rPr>
              <a:t>Data Ingestion (Extraction):</a:t>
            </a:r>
            <a:r>
              <a:rPr lang="en-GB" sz="8000" dirty="0">
                <a:latin typeface="Cambria" panose="02040503050406030204" pitchFamily="18" charset="0"/>
                <a:ea typeface="Cambria" panose="02040503050406030204" pitchFamily="18" charset="0"/>
              </a:rPr>
              <a:t> Extracted raw, disparate CSV datasets (Orders, Customers, Products, Items) directly from the Olist dataset into Power BI Desktop. </a:t>
            </a:r>
          </a:p>
          <a:p>
            <a:pPr marL="457200" indent="-457200">
              <a:spcBef>
                <a:spcPct val="20000"/>
              </a:spcBef>
              <a:spcAft>
                <a:spcPts val="600"/>
              </a:spcAft>
              <a:buAutoNum type="arabicPeriod"/>
            </a:pPr>
            <a:r>
              <a:rPr lang="en-GB" sz="8000" b="1" dirty="0">
                <a:latin typeface="Cambria" panose="02040503050406030204" pitchFamily="18" charset="0"/>
                <a:ea typeface="Cambria" panose="02040503050406030204" pitchFamily="18" charset="0"/>
              </a:rPr>
              <a:t>ETL Process (Transformation):</a:t>
            </a:r>
            <a:r>
              <a:rPr lang="en-GB" sz="8000" dirty="0">
                <a:latin typeface="Cambria" panose="02040503050406030204" pitchFamily="18" charset="0"/>
                <a:ea typeface="Cambria" panose="02040503050406030204" pitchFamily="18" charset="0"/>
              </a:rPr>
              <a:t> Utilized Power Query Editor to clean and shape the data. This included standardizing data types, handling null values, and parsing complex timestamp columns into usable 'Year' and 'Month' formats for time-series analysis. </a:t>
            </a:r>
          </a:p>
          <a:p>
            <a:pPr marL="457200" indent="-457200">
              <a:spcBef>
                <a:spcPct val="20000"/>
              </a:spcBef>
              <a:spcAft>
                <a:spcPts val="600"/>
              </a:spcAft>
              <a:buAutoNum type="arabicPeriod"/>
            </a:pPr>
            <a:r>
              <a:rPr lang="en-GB" sz="8000" b="1" dirty="0">
                <a:latin typeface="Cambria" panose="02040503050406030204" pitchFamily="18" charset="0"/>
                <a:ea typeface="Cambria" panose="02040503050406030204" pitchFamily="18" charset="0"/>
              </a:rPr>
              <a:t>Relational Data Modeling:</a:t>
            </a:r>
            <a:r>
              <a:rPr lang="en-GB" sz="8000" dirty="0">
                <a:latin typeface="Cambria" panose="02040503050406030204" pitchFamily="18" charset="0"/>
                <a:ea typeface="Cambria" panose="02040503050406030204" pitchFamily="18" charset="0"/>
              </a:rPr>
              <a:t> Designed a Star Schema architecture. Centralized the transaction data as fact tables, and created active one-to-many relationships with dimension tables (Customers, Products) to enable seamless cross-filtering across the entire application. </a:t>
            </a:r>
          </a:p>
          <a:p>
            <a:pPr marL="457200" indent="-457200">
              <a:spcBef>
                <a:spcPct val="20000"/>
              </a:spcBef>
              <a:spcAft>
                <a:spcPts val="600"/>
              </a:spcAft>
              <a:buAutoNum type="arabicPeriod"/>
            </a:pPr>
            <a:r>
              <a:rPr lang="en-GB" sz="8000" b="1" dirty="0">
                <a:latin typeface="Cambria" panose="02040503050406030204" pitchFamily="18" charset="0"/>
                <a:ea typeface="Cambria" panose="02040503050406030204" pitchFamily="18" charset="0"/>
              </a:rPr>
              <a:t> Analytical Engineering (DAX):</a:t>
            </a:r>
            <a:r>
              <a:rPr lang="en-GB" sz="8000" dirty="0">
                <a:latin typeface="Cambria" panose="02040503050406030204" pitchFamily="18" charset="0"/>
                <a:ea typeface="Cambria" panose="02040503050406030204" pitchFamily="18" charset="0"/>
              </a:rPr>
              <a:t> Developed custom Data Analysis Expressions (DAX) to create dynamic, aggregated measures—such as Total Revenue, Distinct Customer Count, and Average Freight Value—that instantly recalculate based on user slicer inputs. </a:t>
            </a:r>
          </a:p>
          <a:p>
            <a:pPr marL="457200" indent="-457200">
              <a:spcBef>
                <a:spcPct val="20000"/>
              </a:spcBef>
              <a:spcAft>
                <a:spcPts val="600"/>
              </a:spcAft>
              <a:buAutoNum type="arabicPeriod"/>
            </a:pPr>
            <a:r>
              <a:rPr lang="en-GB" sz="8000" b="1" dirty="0">
                <a:latin typeface="Cambria" panose="02040503050406030204" pitchFamily="18" charset="0"/>
                <a:ea typeface="Cambria" panose="02040503050406030204" pitchFamily="18" charset="0"/>
              </a:rPr>
              <a:t>Visualization &amp; UI Design:</a:t>
            </a:r>
            <a:r>
              <a:rPr lang="en-GB" sz="8000" dirty="0">
                <a:latin typeface="Cambria" panose="02040503050406030204" pitchFamily="18" charset="0"/>
                <a:ea typeface="Cambria" panose="02040503050406030204" pitchFamily="18" charset="0"/>
              </a:rPr>
              <a:t> Constructed a three-page, app-style interactive dashboard focused on user experience. Implemented advanced visual elements (Treemaps, Gauge charts, Geographic Maps) and Top-N dynamic filtering to specifically address the core business problems.</a:t>
            </a:r>
          </a:p>
        </p:txBody>
      </p:sp>
    </p:spTree>
    <p:extLst>
      <p:ext uri="{BB962C8B-B14F-4D97-AF65-F5344CB8AC3E}">
        <p14:creationId xmlns:p14="http://schemas.microsoft.com/office/powerpoint/2010/main" val="3501125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0" y="633585"/>
            <a:ext cx="10404148" cy="739827"/>
          </a:xfrm>
        </p:spPr>
        <p:txBody>
          <a:bodyPr lIns="91440" tIns="45720" rIns="91440" bIns="45720" anchor="t">
            <a:normAutofit/>
          </a:bodyPr>
          <a:lstStyle/>
          <a:p>
            <a:r>
              <a:rPr lang="en-US" sz="4000" b="1" cap="all" dirty="0">
                <a:latin typeface="Arial"/>
                <a:cs typeface="Arial"/>
              </a:rPr>
              <a:t>Data Modeling &amp; Deployment:</a:t>
            </a:r>
            <a:endParaRPr lang="en-US" sz="4000" dirty="0"/>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107673" y="1254142"/>
            <a:ext cx="11554239" cy="5252675"/>
          </a:xfrm>
        </p:spPr>
        <p:txBody>
          <a:bodyPr vert="horz" lIns="91440" tIns="45720" rIns="91440" bIns="45720" rtlCol="0">
            <a:normAutofit fontScale="92500" lnSpcReduction="10000"/>
          </a:bodyPr>
          <a:lstStyle/>
          <a:p>
            <a:pPr marL="342900" indent="-342900">
              <a:spcBef>
                <a:spcPct val="20000"/>
              </a:spcBef>
              <a:spcAft>
                <a:spcPts val="600"/>
              </a:spcAft>
              <a:buFont typeface="+mj-lt"/>
              <a:buAutoNum type="arabicPeriod"/>
            </a:pPr>
            <a:r>
              <a:rPr lang="en-IN" sz="1600" b="1" dirty="0">
                <a:latin typeface="Calisto MT" panose="02040603050505030304" pitchFamily="18" charset="0"/>
              </a:rPr>
              <a:t>Analytical Engine Selection</a:t>
            </a:r>
            <a:r>
              <a:rPr lang="en-IN" sz="1500" b="1" dirty="0">
                <a:latin typeface="Franklin Gothic Book"/>
              </a:rPr>
              <a:t>:</a:t>
            </a:r>
            <a:endParaRPr lang="en-IN" sz="1500" dirty="0">
              <a:latin typeface="Franklin Gothic Book"/>
            </a:endParaRPr>
          </a:p>
          <a:p>
            <a:pPr marL="629920" lvl="1" indent="-305435">
              <a:spcBef>
                <a:spcPct val="20000"/>
              </a:spcBef>
              <a:spcAft>
                <a:spcPts val="600"/>
              </a:spcAft>
              <a:buFont typeface="Arial"/>
              <a:buChar char="•"/>
            </a:pPr>
            <a:r>
              <a:rPr lang="en-GB" sz="1700" dirty="0">
                <a:latin typeface="Cambria" panose="02040503050406030204" pitchFamily="18" charset="0"/>
                <a:ea typeface="Cambria" panose="02040503050406030204" pitchFamily="18" charset="0"/>
              </a:rPr>
              <a:t>Provide a detailed overview of the chosen architecture. Instead of a machine learning model, this project utilizes a Star Schema Relational Data Model powered by the VertiPaq analytical engine in Power BI. This architecture was explicitly chosen over flat-file analysis because it optimizes query performance across large datasets and enables seamless, multidimensional cross-filtering between fact tables (Orders) and dimension tables (Customers, Products).</a:t>
            </a:r>
            <a:endParaRPr lang="en-IN" sz="1700" dirty="0">
              <a:latin typeface="Cambria" panose="02040503050406030204" pitchFamily="18" charset="0"/>
              <a:ea typeface="Cambria" panose="02040503050406030204" pitchFamily="18" charset="0"/>
            </a:endParaRPr>
          </a:p>
          <a:p>
            <a:pPr marL="342900" indent="-342900">
              <a:spcBef>
                <a:spcPct val="20000"/>
              </a:spcBef>
              <a:spcAft>
                <a:spcPts val="600"/>
              </a:spcAft>
              <a:buFont typeface="+mj-lt"/>
              <a:buAutoNum type="arabicPeriod"/>
            </a:pPr>
            <a:r>
              <a:rPr lang="en-IN" sz="1600" b="1" dirty="0">
                <a:latin typeface="Calisto MT" panose="02040603050505030304" pitchFamily="18" charset="0"/>
              </a:rPr>
              <a:t>Data Input &amp; Feature Integration</a:t>
            </a:r>
            <a:r>
              <a:rPr lang="en-IN" sz="1500" b="1" dirty="0">
                <a:latin typeface="Franklin Gothic Book"/>
              </a:rPr>
              <a:t>:</a:t>
            </a:r>
            <a:endParaRPr lang="en-IN" sz="1500" dirty="0">
              <a:latin typeface="Franklin Gothic Book"/>
            </a:endParaRPr>
          </a:p>
          <a:p>
            <a:pPr marL="629920" lvl="1" indent="-305435">
              <a:spcBef>
                <a:spcPct val="20000"/>
              </a:spcBef>
              <a:spcAft>
                <a:spcPts val="600"/>
              </a:spcAft>
              <a:buFont typeface="Arial"/>
              <a:buChar char="•"/>
            </a:pPr>
            <a:r>
              <a:rPr lang="en-GB" sz="1700" dirty="0">
                <a:latin typeface="Cambria" panose="02040503050406030204" pitchFamily="18" charset="0"/>
                <a:ea typeface="Cambria" panose="02040503050406030204" pitchFamily="18" charset="0"/>
              </a:rPr>
              <a:t>Specify the input features driving the analytical engine. The primary inputs include transactional data (price, freight_value), categorical metadata (product_category_name, order_status), temporal features (order_purchase_timestamp), and spatial attributes (customer_city, customer_state). Engineered features, such as distinct counts of order_id and customer_id, are integrated to calculate aggregate business metrics accurately.</a:t>
            </a:r>
            <a:endParaRPr lang="en-IN" sz="1700" dirty="0">
              <a:latin typeface="Cambria" panose="02040503050406030204" pitchFamily="18" charset="0"/>
              <a:ea typeface="Cambria" panose="02040503050406030204" pitchFamily="18" charset="0"/>
            </a:endParaRPr>
          </a:p>
          <a:p>
            <a:pPr marL="342900" indent="-342900">
              <a:spcBef>
                <a:spcPct val="20000"/>
              </a:spcBef>
              <a:spcAft>
                <a:spcPts val="600"/>
              </a:spcAft>
              <a:buFont typeface="+mj-lt"/>
              <a:buAutoNum type="arabicPeriod"/>
            </a:pPr>
            <a:r>
              <a:rPr lang="en-IN" sz="1600" b="1" dirty="0">
                <a:latin typeface="Calisto MT" panose="02040603050505030304" pitchFamily="18" charset="0"/>
              </a:rPr>
              <a:t>Data Transformation &amp; Measure Processing</a:t>
            </a:r>
            <a:r>
              <a:rPr lang="en-IN" sz="1500" b="1" dirty="0">
                <a:latin typeface="Franklin Gothic Book"/>
              </a:rPr>
              <a:t>:</a:t>
            </a:r>
            <a:endParaRPr lang="en-IN" sz="1500" dirty="0">
              <a:latin typeface="Franklin Gothic Book"/>
            </a:endParaRPr>
          </a:p>
          <a:p>
            <a:pPr marL="629920" lvl="1" indent="-305435">
              <a:spcBef>
                <a:spcPct val="20000"/>
              </a:spcBef>
              <a:spcAft>
                <a:spcPts val="600"/>
              </a:spcAft>
              <a:buFont typeface="Arial"/>
              <a:buChar char="•"/>
            </a:pPr>
            <a:r>
              <a:rPr lang="en-GB" sz="1700" dirty="0">
                <a:latin typeface="Cambria" panose="02040503050406030204" pitchFamily="18" charset="0"/>
                <a:ea typeface="Cambria" panose="02040503050406030204" pitchFamily="18" charset="0"/>
              </a:rPr>
              <a:t>Explain how the raw data is structured and calculated to generate insights. Instead of algorithmic training, the data undergoes rigorous ETL processing via Power Query. Custom Data Analysis Expressions (DAX) are formulated to dynamically compute Key Performance Indicators (KPIs) such as Total Revenue and Unique Customers. The data model is optimized by establishing active one-to-many relationships, ensuring that context transitions (e.g., applying Top-N filters) cascade accurately across all visual elements</a:t>
            </a:r>
            <a:r>
              <a:rPr lang="en-GB" sz="1700" dirty="0">
                <a:latin typeface="Franklin Gothic Book"/>
              </a:rPr>
              <a:t>.</a:t>
            </a:r>
            <a:endParaRPr lang="en-IN" sz="1700" dirty="0">
              <a:latin typeface="Franklin Gothic Book"/>
            </a:endParaRPr>
          </a:p>
          <a:p>
            <a:pPr marL="342900" indent="-342900">
              <a:spcBef>
                <a:spcPct val="20000"/>
              </a:spcBef>
              <a:spcAft>
                <a:spcPts val="600"/>
              </a:spcAft>
              <a:buFont typeface="+mj-lt"/>
              <a:buAutoNum type="arabicPeriod"/>
            </a:pPr>
            <a:r>
              <a:rPr lang="en-IN" sz="1600" b="1" dirty="0">
                <a:latin typeface="Calisto MT" panose="02040603050505030304" pitchFamily="18" charset="0"/>
              </a:rPr>
              <a:t>Interactive Deployment &amp; Insight Generation</a:t>
            </a:r>
            <a:r>
              <a:rPr lang="en-IN" sz="1500" b="1" dirty="0">
                <a:latin typeface="Franklin Gothic Book"/>
              </a:rPr>
              <a:t>:</a:t>
            </a:r>
            <a:endParaRPr lang="en-IN" sz="1500" dirty="0">
              <a:latin typeface="Franklin Gothic Book"/>
            </a:endParaRPr>
          </a:p>
          <a:p>
            <a:pPr marL="629920" lvl="1" indent="-305435">
              <a:spcBef>
                <a:spcPct val="20000"/>
              </a:spcBef>
              <a:spcAft>
                <a:spcPts val="600"/>
              </a:spcAft>
              <a:buFont typeface="Arial"/>
              <a:buChar char="•"/>
            </a:pPr>
            <a:r>
              <a:rPr lang="en-GB" sz="1700" dirty="0">
                <a:latin typeface="Cambria" panose="02040503050406030204" pitchFamily="18" charset="0"/>
                <a:ea typeface="Cambria" panose="02040503050406030204" pitchFamily="18" charset="0"/>
              </a:rPr>
              <a:t>Detail how the deployed system delivers real-time business intelligence to end-users. The modeled data is deployed via a multi-page, interactive dashboard interface. When a stakeholder interacts with the system—such as adjusting the timeline slicer or selecting a specific geographical region on the density map—the underlying DAX engine instantly recalculates the tables and updates all connected visualizations (Treemaps, Gauge charts, Matrices) to provide immediate, actionable insights.</a:t>
            </a:r>
          </a:p>
        </p:txBody>
      </p:sp>
    </p:spTree>
    <p:extLst>
      <p:ext uri="{BB962C8B-B14F-4D97-AF65-F5344CB8AC3E}">
        <p14:creationId xmlns:p14="http://schemas.microsoft.com/office/powerpoint/2010/main" val="11990843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Result:</a:t>
            </a:r>
            <a:endParaRPr lang="en-US" sz="4000" dirty="0"/>
          </a:p>
        </p:txBody>
      </p:sp>
      <p:sp>
        <p:nvSpPr>
          <p:cNvPr id="13" name="TextBox 12">
            <a:extLst>
              <a:ext uri="{FF2B5EF4-FFF2-40B4-BE49-F238E27FC236}">
                <a16:creationId xmlns:a16="http://schemas.microsoft.com/office/drawing/2014/main" id="{D11ABE37-D339-4693-8918-1AF68E1A9353}"/>
              </a:ext>
            </a:extLst>
          </p:cNvPr>
          <p:cNvSpPr txBox="1"/>
          <p:nvPr/>
        </p:nvSpPr>
        <p:spPr>
          <a:xfrm>
            <a:off x="1338471" y="6254750"/>
            <a:ext cx="8574157" cy="371337"/>
          </a:xfrm>
          <a:prstGeom prst="rect">
            <a:avLst/>
          </a:prstGeom>
          <a:noFill/>
        </p:spPr>
        <p:txBody>
          <a:bodyPr wrap="square" rtlCol="0">
            <a:spAutoFit/>
          </a:bodyPr>
          <a:lstStyle/>
          <a:p>
            <a:r>
              <a:rPr lang="en-GB" dirty="0"/>
              <a:t>Executive Overview displaying $13.59M Total Revenue and geographical sales distribution.</a:t>
            </a:r>
            <a:endParaRPr lang="en-IN" dirty="0"/>
          </a:p>
        </p:txBody>
      </p:sp>
      <p:pic>
        <p:nvPicPr>
          <p:cNvPr id="4" name="Picture 3">
            <a:extLst>
              <a:ext uri="{FF2B5EF4-FFF2-40B4-BE49-F238E27FC236}">
                <a16:creationId xmlns:a16="http://schemas.microsoft.com/office/drawing/2014/main" id="{E4A2C61C-CE1D-475F-B215-463DD9EA15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8893" y="1171770"/>
            <a:ext cx="8893311" cy="5082980"/>
          </a:xfrm>
          <a:prstGeom prst="rect">
            <a:avLst/>
          </a:prstGeom>
        </p:spPr>
      </p:pic>
    </p:spTree>
    <p:extLst>
      <p:ext uri="{BB962C8B-B14F-4D97-AF65-F5344CB8AC3E}">
        <p14:creationId xmlns:p14="http://schemas.microsoft.com/office/powerpoint/2010/main" val="587425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5EC4206-FAAC-4133-B2B7-17C474E5BE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2115" y="696350"/>
            <a:ext cx="9707769" cy="5465299"/>
          </a:xfrm>
          <a:prstGeom prst="rect">
            <a:avLst/>
          </a:prstGeom>
        </p:spPr>
      </p:pic>
      <p:sp>
        <p:nvSpPr>
          <p:cNvPr id="5" name="TextBox 4">
            <a:extLst>
              <a:ext uri="{FF2B5EF4-FFF2-40B4-BE49-F238E27FC236}">
                <a16:creationId xmlns:a16="http://schemas.microsoft.com/office/drawing/2014/main" id="{4B564D3E-D95E-4748-BC8A-789996ED63A8}"/>
              </a:ext>
            </a:extLst>
          </p:cNvPr>
          <p:cNvSpPr txBox="1"/>
          <p:nvPr/>
        </p:nvSpPr>
        <p:spPr>
          <a:xfrm>
            <a:off x="1242115" y="6161649"/>
            <a:ext cx="10048737" cy="369332"/>
          </a:xfrm>
          <a:prstGeom prst="rect">
            <a:avLst/>
          </a:prstGeom>
          <a:noFill/>
        </p:spPr>
        <p:txBody>
          <a:bodyPr wrap="square" rtlCol="0">
            <a:spAutoFit/>
          </a:bodyPr>
          <a:lstStyle/>
          <a:p>
            <a:r>
              <a:rPr lang="en-GB" dirty="0"/>
              <a:t>Product Performance Deep-Dive featuring conditional data bars and Top/Bottom 10 Revenue Generators.</a:t>
            </a:r>
            <a:endParaRPr lang="en-IN" dirty="0"/>
          </a:p>
        </p:txBody>
      </p:sp>
    </p:spTree>
    <p:extLst>
      <p:ext uri="{BB962C8B-B14F-4D97-AF65-F5344CB8AC3E}">
        <p14:creationId xmlns:p14="http://schemas.microsoft.com/office/powerpoint/2010/main" val="9964583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2CDDFAF-031F-4DB1-A824-65BE1CAAC0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1635" y="660372"/>
            <a:ext cx="9626434" cy="5537256"/>
          </a:xfrm>
          <a:prstGeom prst="rect">
            <a:avLst/>
          </a:prstGeom>
        </p:spPr>
      </p:pic>
      <p:sp>
        <p:nvSpPr>
          <p:cNvPr id="5" name="TextBox 4">
            <a:extLst>
              <a:ext uri="{FF2B5EF4-FFF2-40B4-BE49-F238E27FC236}">
                <a16:creationId xmlns:a16="http://schemas.microsoft.com/office/drawing/2014/main" id="{AC80E6C3-71AF-4743-AF00-44F866066DF6}"/>
              </a:ext>
            </a:extLst>
          </p:cNvPr>
          <p:cNvSpPr txBox="1"/>
          <p:nvPr/>
        </p:nvSpPr>
        <p:spPr>
          <a:xfrm>
            <a:off x="821635" y="6213117"/>
            <a:ext cx="10090260" cy="369332"/>
          </a:xfrm>
          <a:prstGeom prst="rect">
            <a:avLst/>
          </a:prstGeom>
          <a:noFill/>
        </p:spPr>
        <p:txBody>
          <a:bodyPr wrap="square" rtlCol="0">
            <a:spAutoFit/>
          </a:bodyPr>
          <a:lstStyle/>
          <a:p>
            <a:r>
              <a:rPr lang="en-GB" dirty="0"/>
              <a:t>Customer Geographic Insights featuring an interactive density map and Treemap of Top 10 Cities.</a:t>
            </a:r>
            <a:endParaRPr lang="en-IN" dirty="0"/>
          </a:p>
        </p:txBody>
      </p:sp>
    </p:spTree>
    <p:extLst>
      <p:ext uri="{BB962C8B-B14F-4D97-AF65-F5344CB8AC3E}">
        <p14:creationId xmlns:p14="http://schemas.microsoft.com/office/powerpoint/2010/main" val="38797161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851405"/>
          </a:xfrm>
        </p:spPr>
        <p:txBody>
          <a:bodyPr lIns="91440" tIns="45720" rIns="91440" bIns="45720" anchor="t">
            <a:normAutofit/>
          </a:bodyPr>
          <a:lstStyle/>
          <a:p>
            <a:r>
              <a:rPr lang="en-US" sz="4000" b="1" cap="all" dirty="0">
                <a:latin typeface="Arial"/>
                <a:cs typeface="Arial"/>
              </a:rPr>
              <a:t>Conclusion:</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262589" y="1622391"/>
            <a:ext cx="10515600" cy="2843592"/>
          </a:xfrm>
        </p:spPr>
        <p:txBody>
          <a:bodyPr vert="horz" lIns="91440" tIns="45720" rIns="91440" bIns="45720" rtlCol="0">
            <a:normAutofit/>
          </a:bodyPr>
          <a:lstStyle/>
          <a:p>
            <a:pPr marL="0" indent="0">
              <a:buNone/>
            </a:pPr>
            <a:r>
              <a:rPr lang="en-GB" sz="2400" dirty="0">
                <a:latin typeface="Cambria" panose="02040503050406030204" pitchFamily="18" charset="0"/>
                <a:ea typeface="Cambria" panose="02040503050406030204" pitchFamily="18" charset="0"/>
              </a:rPr>
              <a:t>The proposed solution effectively transforms disjointed e-commerce data into a strategic business asset. By implementing a relational data model and interactive visualizations, the dashboard successfully highlights critical trends—such as identifying beleza_saude (health &amp; beauty) as a primary revenue driver and pinpointing high-density customer regions like São Paulo. Emphasizing the importance of clear data visibility, this tool empowers stakeholders to make accurate, data-backed decisions regarding inventory management and targeted regional marketing.</a:t>
            </a:r>
            <a:endParaRPr lang="en-US"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2453096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dirty="0">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268071" y="1304434"/>
            <a:ext cx="11208312" cy="4947232"/>
          </a:xfrm>
        </p:spPr>
        <p:txBody>
          <a:bodyPr vert="horz" lIns="91440" tIns="45720" rIns="91440" bIns="45720" rtlCol="0">
            <a:normAutofit/>
          </a:bodyPr>
          <a:lstStyle/>
          <a:p>
            <a:pPr marL="457200" indent="-457200">
              <a:spcBef>
                <a:spcPct val="20000"/>
              </a:spcBef>
              <a:spcAft>
                <a:spcPts val="600"/>
              </a:spcAft>
              <a:buFont typeface="+mj-lt"/>
              <a:buAutoNum type="arabicPeriod"/>
            </a:pPr>
            <a:r>
              <a:rPr lang="en-US" b="1" dirty="0">
                <a:latin typeface="Franklin Gothic Book"/>
              </a:rPr>
              <a:t>Predictive Analytics:</a:t>
            </a:r>
            <a:r>
              <a:rPr lang="en-US" b="1" dirty="0">
                <a:latin typeface="Cambria" panose="02040503050406030204" pitchFamily="18" charset="0"/>
                <a:ea typeface="Cambria" panose="02040503050406030204" pitchFamily="18" charset="0"/>
              </a:rPr>
              <a:t>:</a:t>
            </a:r>
          </a:p>
          <a:p>
            <a:pPr marL="629920" lvl="1" indent="-305435">
              <a:spcBef>
                <a:spcPct val="20000"/>
              </a:spcBef>
              <a:spcAft>
                <a:spcPts val="600"/>
              </a:spcAft>
              <a:buFont typeface="Arial"/>
              <a:buChar char="•"/>
            </a:pPr>
            <a:r>
              <a:rPr lang="en-GB" sz="2800" dirty="0">
                <a:latin typeface="Calibri" panose="020F0502020204030204" pitchFamily="34" charset="0"/>
                <a:ea typeface="Calibri" panose="020F0502020204030204" pitchFamily="34" charset="0"/>
                <a:cs typeface="Calibri" panose="020F0502020204030204" pitchFamily="34" charset="0"/>
              </a:rPr>
              <a:t>Incorporate machine learning algorithms to forecast future month-over-month sales and bike/product demand.</a:t>
            </a:r>
            <a:endParaRPr lang="en-US" dirty="0">
              <a:latin typeface="Franklin Gothic Book"/>
            </a:endParaRPr>
          </a:p>
          <a:p>
            <a:pPr marL="457200" indent="-457200">
              <a:spcBef>
                <a:spcPct val="20000"/>
              </a:spcBef>
              <a:spcAft>
                <a:spcPts val="600"/>
              </a:spcAft>
              <a:buFont typeface="+mj-lt"/>
              <a:buAutoNum type="arabicPeriod"/>
            </a:pPr>
            <a:r>
              <a:rPr lang="en-US" b="1" dirty="0">
                <a:latin typeface="Franklin Gothic Book"/>
              </a:rPr>
              <a:t>Logistics &amp; Delivery Optimization :</a:t>
            </a:r>
            <a:endParaRPr lang="en-US" b="1" dirty="0">
              <a:latin typeface="Cambria" panose="02040503050406030204" pitchFamily="18" charset="0"/>
              <a:ea typeface="Cambria" panose="02040503050406030204" pitchFamily="18" charset="0"/>
            </a:endParaRPr>
          </a:p>
          <a:p>
            <a:pPr marL="629920" lvl="1" indent="-305435">
              <a:spcBef>
                <a:spcPct val="20000"/>
              </a:spcBef>
              <a:spcAft>
                <a:spcPts val="600"/>
              </a:spcAft>
              <a:buFont typeface="Arial"/>
              <a:buChar char="•"/>
            </a:pPr>
            <a:r>
              <a:rPr lang="en-GB" sz="2800" dirty="0">
                <a:latin typeface="Calibri" panose="020F0502020204030204" pitchFamily="34" charset="0"/>
                <a:ea typeface="Calibri" panose="020F0502020204030204" pitchFamily="34" charset="0"/>
                <a:cs typeface="Calibri" panose="020F0502020204030204" pitchFamily="34" charset="0"/>
              </a:rPr>
              <a:t>Expand the system by analyzing delivery timestamp data to track "On-Time vs. Late" delivery rates, optimizing shipping efficiency.</a:t>
            </a:r>
          </a:p>
          <a:p>
            <a:pPr marL="457200" indent="-457200">
              <a:spcBef>
                <a:spcPct val="20000"/>
              </a:spcBef>
              <a:spcAft>
                <a:spcPts val="600"/>
              </a:spcAft>
              <a:buFont typeface="+mj-lt"/>
              <a:buAutoNum type="arabicPeriod"/>
            </a:pPr>
            <a:r>
              <a:rPr lang="en-US" b="1" dirty="0">
                <a:latin typeface="Franklin Gothic Book"/>
              </a:rPr>
              <a:t>Sentiment Analysis:</a:t>
            </a:r>
            <a:endParaRPr lang="en-US" b="1" dirty="0">
              <a:latin typeface="Cambria" panose="02040503050406030204" pitchFamily="18" charset="0"/>
              <a:ea typeface="Cambria" panose="02040503050406030204" pitchFamily="18" charset="0"/>
            </a:endParaRPr>
          </a:p>
          <a:p>
            <a:pPr marL="629920" lvl="1" indent="-305435">
              <a:spcBef>
                <a:spcPct val="20000"/>
              </a:spcBef>
              <a:spcAft>
                <a:spcPts val="600"/>
              </a:spcAft>
              <a:buFont typeface="Arial"/>
              <a:buChar char="•"/>
            </a:pPr>
            <a:r>
              <a:rPr lang="en-GB" sz="2800" dirty="0">
                <a:latin typeface="Calibri" panose="020F0502020204030204" pitchFamily="34" charset="0"/>
                <a:ea typeface="Calibri" panose="020F0502020204030204" pitchFamily="34" charset="0"/>
                <a:cs typeface="Calibri" panose="020F0502020204030204" pitchFamily="34" charset="0"/>
              </a:rPr>
              <a:t>Integrate the provided customer reviews dataset to correlate product ratings with overall sales performance.</a:t>
            </a:r>
          </a:p>
        </p:txBody>
      </p:sp>
    </p:spTree>
    <p:extLst>
      <p:ext uri="{BB962C8B-B14F-4D97-AF65-F5344CB8AC3E}">
        <p14:creationId xmlns:p14="http://schemas.microsoft.com/office/powerpoint/2010/main" val="37441996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References:</a:t>
            </a:r>
            <a:endParaRPr lang="en-US" sz="4000"/>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113677" y="1426434"/>
            <a:ext cx="10515600" cy="4251960"/>
          </a:xfrm>
        </p:spPr>
        <p:txBody>
          <a:bodyPr vert="horz" lIns="91440" tIns="45720" rIns="91440" bIns="45720" rtlCol="0" anchor="t">
            <a:normAutofit/>
          </a:bodyPr>
          <a:lstStyle/>
          <a:p>
            <a:pPr marL="0" indent="0">
              <a:buNone/>
            </a:pPr>
            <a:r>
              <a:rPr lang="it-IT" sz="2400" dirty="0">
                <a:latin typeface="Calisto MT" panose="02040603050505030304" pitchFamily="18" charset="0"/>
              </a:rPr>
              <a:t>Olist Brazilian E-commerce Public Dataset (Kaggle).</a:t>
            </a:r>
          </a:p>
          <a:p>
            <a:pPr marL="0" indent="0">
              <a:buNone/>
            </a:pPr>
            <a:r>
              <a:rPr lang="en-GB" sz="2400" dirty="0">
                <a:latin typeface="Calisto MT" panose="02040603050505030304" pitchFamily="18" charset="0"/>
              </a:rPr>
              <a:t>Microsoft Power BI DAX and Data Modeling Official Documentation.</a:t>
            </a:r>
          </a:p>
          <a:p>
            <a:pPr marL="0" indent="0">
              <a:buNone/>
            </a:pPr>
            <a:r>
              <a:rPr lang="en-GB" sz="2400" dirty="0">
                <a:latin typeface="Calisto MT" panose="02040603050505030304" pitchFamily="18" charset="0"/>
              </a:rPr>
              <a:t>Best practices in data preprocessing and visualization techniques.</a:t>
            </a:r>
            <a:endParaRPr lang="it-IT" sz="2400" dirty="0">
              <a:latin typeface="Calisto MT" panose="02040603050505030304" pitchFamily="18" charset="0"/>
            </a:endParaRPr>
          </a:p>
          <a:p>
            <a:pPr marL="0" indent="0">
              <a:buNone/>
            </a:pPr>
            <a:r>
              <a:rPr lang="en-IN" sz="2400" dirty="0">
                <a:latin typeface="Calisto MT" panose="02040603050505030304" pitchFamily="18" charset="0"/>
              </a:rPr>
              <a:t>GitHub Link:</a:t>
            </a:r>
            <a:r>
              <a:rPr lang="en-IN" sz="2400" dirty="0">
                <a:solidFill>
                  <a:srgbClr val="0070C0"/>
                </a:solidFill>
                <a:latin typeface="Calisto MT" panose="02040603050505030304" pitchFamily="18" charset="0"/>
              </a:rPr>
              <a:t> </a:t>
            </a:r>
            <a:r>
              <a:rPr lang="en-IN" sz="2400" u="sng" dirty="0">
                <a:solidFill>
                  <a:srgbClr val="0070C0"/>
                </a:solidFill>
                <a:latin typeface="Calisto MT" panose="02040603050505030304" pitchFamily="18" charset="0"/>
              </a:rPr>
              <a:t>Link</a:t>
            </a:r>
          </a:p>
          <a:p>
            <a:pPr marL="0" indent="0">
              <a:buNone/>
            </a:pPr>
            <a:r>
              <a:rPr lang="en-GB" sz="2200" u="sng" dirty="0">
                <a:solidFill>
                  <a:srgbClr val="0070C0"/>
                </a:solidFill>
                <a:latin typeface="Calisto MT" panose="02040603050505030304" pitchFamily="18" charset="0"/>
              </a:rPr>
              <a:t>  </a:t>
            </a:r>
            <a:endParaRPr lang="en-IN" sz="2200" u="sng" dirty="0">
              <a:solidFill>
                <a:srgbClr val="0070C0"/>
              </a:solidFill>
              <a:latin typeface="Calisto MT" panose="02040603050505030304" pitchFamily="18" charset="0"/>
            </a:endParaRPr>
          </a:p>
          <a:p>
            <a:pPr marL="0" indent="0">
              <a:buNone/>
            </a:pPr>
            <a:endParaRPr lang="en-IN" sz="2200" dirty="0">
              <a:latin typeface="Calisto MT" panose="02040603050505030304" pitchFamily="18" charset="0"/>
            </a:endParaRPr>
          </a:p>
        </p:txBody>
      </p:sp>
    </p:spTree>
    <p:extLst>
      <p:ext uri="{BB962C8B-B14F-4D97-AF65-F5344CB8AC3E}">
        <p14:creationId xmlns:p14="http://schemas.microsoft.com/office/powerpoint/2010/main" val="16917006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539</TotalTime>
  <Words>1369</Words>
  <Application>Microsoft Office PowerPoint</Application>
  <PresentationFormat>Widescreen</PresentationFormat>
  <Paragraphs>74</Paragraphs>
  <Slides>14</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14</vt:i4>
      </vt:variant>
    </vt:vector>
  </HeadingPairs>
  <TitlesOfParts>
    <vt:vector size="23" baseType="lpstr">
      <vt:lpstr>Aptos</vt:lpstr>
      <vt:lpstr>Aptos Display</vt:lpstr>
      <vt:lpstr>Arial</vt:lpstr>
      <vt:lpstr>Calibri</vt:lpstr>
      <vt:lpstr>Calisto MT</vt:lpstr>
      <vt:lpstr>Cambria</vt:lpstr>
      <vt:lpstr>Franklin Gothic Book</vt:lpstr>
      <vt:lpstr>1_Office Theme</vt:lpstr>
      <vt:lpstr>Custom Design</vt:lpstr>
      <vt:lpstr>PowerPoint Presentation</vt:lpstr>
      <vt:lpstr>OUTLINE:</vt:lpstr>
      <vt:lpstr>Problem Statement:</vt:lpstr>
      <vt:lpstr>PowerPoint Presentation</vt:lpstr>
      <vt:lpstr>PowerPoint Presentation</vt:lpstr>
      <vt:lpstr>System  Approach:</vt:lpstr>
      <vt:lpstr>Data Modeling &amp; Deployment:</vt:lpstr>
      <vt:lpstr>Result:</vt:lpstr>
      <vt:lpstr>PowerPoint Presentation</vt:lpstr>
      <vt:lpstr>PowerPoint Presentation</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KULDEEP R. CHOUDHARY</cp:lastModifiedBy>
  <cp:revision>124</cp:revision>
  <dcterms:created xsi:type="dcterms:W3CDTF">2024-05-21T11:55:07Z</dcterms:created>
  <dcterms:modified xsi:type="dcterms:W3CDTF">2026-03-22T06:37:34Z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